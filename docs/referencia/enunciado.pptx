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9"/>
  </p:notesMasterIdLst>
  <p:handoutMasterIdLst>
    <p:handoutMasterId r:id="rId10"/>
  </p:handoutMasterIdLst>
  <p:sldIdLst>
    <p:sldId id="410" r:id="rId5"/>
    <p:sldId id="411" r:id="rId6"/>
    <p:sldId id="414" r:id="rId7"/>
    <p:sldId id="412" r:id="rId8"/>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5FFAC"/>
    <a:srgbClr val="ABCAE7"/>
    <a:srgbClr val="65D7FF"/>
    <a:srgbClr val="A7D971"/>
    <a:srgbClr val="B265FF"/>
    <a:srgbClr val="FFD85D"/>
    <a:srgbClr val="FFE07D"/>
    <a:srgbClr val="9751CB"/>
    <a:srgbClr val="0DFF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61" autoAdjust="0"/>
    <p:restoredTop sz="94229" autoAdjust="0"/>
  </p:normalViewPr>
  <p:slideViewPr>
    <p:cSldViewPr snapToGrid="0">
      <p:cViewPr varScale="1">
        <p:scale>
          <a:sx n="82" d="100"/>
          <a:sy n="82" d="100"/>
        </p:scale>
        <p:origin x="778"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286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E92A46E5-772B-4A8A-A167-62663A29553C}" type="datetime1">
              <a:rPr lang="es-ES" smtClean="0"/>
              <a:t>26/09/2026</a:t>
            </a:fld>
            <a:endParaRPr lang="es-ES" dirty="0"/>
          </a:p>
        </p:txBody>
      </p:sp>
      <p:sp>
        <p:nvSpPr>
          <p:cNvPr id="6" name="Marcador de número de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2C230DF-5933-439D-898F-38E9AC9BA688}" type="slidenum">
              <a:rPr lang="es-ES" smtClean="0"/>
              <a:t>‹Nº›</a:t>
            </a:fld>
            <a:endParaRPr lang="es-ES" dirty="0"/>
          </a:p>
        </p:txBody>
      </p:sp>
      <p:sp>
        <p:nvSpPr>
          <p:cNvPr id="7" name="Marcador de pie de pá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8" name="Marcador de encabezado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6DB30B6-91B7-493F-B445-96E1D2848A7B}" type="datetime1">
              <a:rPr lang="es-ES" smtClean="0"/>
              <a:t>26/09/2026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A89C7E07-3C67-C64C-8DA0-0404F6303970}" type="slidenum">
              <a:rPr lang="es-ES" smtClean="0"/>
              <a:t>‹Nº›</a:t>
            </a:fld>
            <a:endParaRPr lang="es-E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a:t>
            </a:fld>
            <a:endParaRPr lang="es-ES" dirty="0"/>
          </a:p>
        </p:txBody>
      </p:sp>
    </p:spTree>
    <p:extLst>
      <p:ext uri="{BB962C8B-B14F-4D97-AF65-F5344CB8AC3E}">
        <p14:creationId xmlns:p14="http://schemas.microsoft.com/office/powerpoint/2010/main" val="1092453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es-ES" sz="4400" b="1" i="0" spc="50" baseline="0">
                <a:latin typeface="+mj-lt"/>
              </a:defRPr>
            </a:lvl1pPr>
          </a:lstStyle>
          <a:p>
            <a:pPr rtl="0"/>
            <a:r>
              <a:rPr lang="es-ES" noProof="0" dirty="0"/>
              <a:t>Haga clic para agregar un título </a:t>
            </a:r>
          </a:p>
        </p:txBody>
      </p:sp>
      <p:sp>
        <p:nvSpPr>
          <p:cNvPr id="2" name="Marcador de contenid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es-ES" sz="2400" b="1" i="0" kern="1200" dirty="0">
                <a:solidFill>
                  <a:schemeClr val="tx2">
                    <a:lumMod val="75000"/>
                  </a:schemeClr>
                </a:solidFill>
                <a:latin typeface="+mn-lt"/>
                <a:ea typeface="+mn-ea"/>
                <a:cs typeface="+mn-cs"/>
              </a:defRPr>
            </a:lvl1pPr>
            <a:lvl2pPr indent="-283464">
              <a:spcBef>
                <a:spcPts val="6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noProof="0" dirty="0"/>
              <a:t>Haga clic para agregar contenido</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3" name="Marcador de número de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es-ES"/>
            </a:defPPr>
          </a:lstStyle>
          <a:p>
            <a:pPr rtl="0"/>
            <a:fld id="{294A09A9-5501-47C1-A89A-A340965A2BE2}" type="slidenum">
              <a:rPr lang="es-ES" noProof="0" smtClean="0"/>
              <a:pPr rtl="0"/>
              <a:t>‹Nº›</a:t>
            </a:fld>
            <a:endParaRPr lang="es-ES" noProof="0" dirty="0"/>
          </a:p>
        </p:txBody>
      </p:sp>
      <p:sp>
        <p:nvSpPr>
          <p:cNvPr id="42" name="Marcador de fech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es-ES"/>
            </a:defPPr>
          </a:lstStyle>
          <a:p>
            <a:pPr rtl="0"/>
            <a:endParaRPr lang="es-ES" noProof="0" dirty="0">
              <a:latin typeface="+mn-lt"/>
            </a:endParaRPr>
          </a:p>
        </p:txBody>
      </p:sp>
      <p:cxnSp>
        <p:nvCxnSpPr>
          <p:cNvPr id="4" name="Conector recto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e sección">
    <p:bg>
      <p:bgPr>
        <a:solidFill>
          <a:schemeClr val="accent3"/>
        </a:solidFill>
        <a:effectLst/>
      </p:bgPr>
    </p:bg>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es-ES" sz="2000">
                <a:solidFill>
                  <a:schemeClr val="tx1"/>
                </a:solidFill>
              </a:defRPr>
            </a:lvl1pPr>
          </a:lstStyle>
          <a:p>
            <a:pPr rtl="0"/>
            <a:r>
              <a:rPr lang="es-ES"/>
              <a:t>Haga clic en el icono para agregar una imagen</a:t>
            </a:r>
          </a:p>
        </p:txBody>
      </p:sp>
      <p:sp>
        <p:nvSpPr>
          <p:cNvPr id="18" name="Título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es-ES" sz="6000" b="1" i="0" baseline="0">
                <a:solidFill>
                  <a:schemeClr val="tx1"/>
                </a:solidFill>
                <a:latin typeface="+mj-lt"/>
              </a:defRPr>
            </a:lvl1pPr>
          </a:lstStyle>
          <a:p>
            <a:pPr rtl="0"/>
            <a:r>
              <a:rPr lang="es-ES"/>
              <a:t>Haga clic para agregar un título </a:t>
            </a:r>
          </a:p>
        </p:txBody>
      </p:sp>
      <p:sp>
        <p:nvSpPr>
          <p:cNvPr id="7" name="Rectángulo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2">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sp>
        <p:nvSpPr>
          <p:cNvPr id="6" name="Marcador de posición de imagen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es-ES" sz="2000"/>
            </a:lvl1pPr>
          </a:lstStyle>
          <a:p>
            <a:pPr rtl="0"/>
            <a:r>
              <a:rPr lang="es-ES"/>
              <a:t>Haga clic en el icono para agregar una imagen</a:t>
            </a:r>
          </a:p>
        </p:txBody>
      </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7" name="Conector recto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sumen 2">
    <p:bg>
      <p:bgPr>
        <a:solidFill>
          <a:schemeClr val="tx1"/>
        </a:solidFill>
        <a:effectLst/>
      </p:bgPr>
    </p:bg>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upo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orma libre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es-ES" sz="4400" b="1" i="0">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número de diapositiva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5" name="Marcador de fecha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dos contenidos 2">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9436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3" name="Marcador de contenido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contenido ">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forma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8" name="Forma libre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dirty="0"/>
            </a:p>
          </p:txBody>
        </p:sp>
        <p:sp>
          <p:nvSpPr>
            <p:cNvPr id="19" name="Forma libre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es-ES" sz="2000"/>
            </a:lvl1pPr>
            <a:lvl2pPr marL="914400" indent="-457200">
              <a:spcBef>
                <a:spcPts val="1800"/>
              </a:spcBef>
              <a:buFont typeface="+mj-lt"/>
              <a:buAutoNum type="alphaLcPeriod"/>
              <a:defRPr lang="es-ES" sz="2000"/>
            </a:lvl2pPr>
            <a:lvl3pPr marL="1371600" indent="-457200">
              <a:spcBef>
                <a:spcPts val="1800"/>
              </a:spcBef>
              <a:buFont typeface="+mj-lt"/>
              <a:buAutoNum type="arabicParenR"/>
              <a:defRPr lang="es-ES" sz="2000"/>
            </a:lvl3pPr>
            <a:lvl4pPr marL="1371600" indent="0">
              <a:spcBef>
                <a:spcPts val="1800"/>
              </a:spcBef>
              <a:buFont typeface="+mj-lt"/>
              <a:buNone/>
              <a:defRPr lang="es-ES" sz="2000"/>
            </a:lvl4pPr>
            <a:lvl5pPr marL="2286000" indent="-457200">
              <a:spcBef>
                <a:spcPts val="1800"/>
              </a:spcBef>
              <a:buFont typeface="+mj-lt"/>
              <a:buAutoNum type="arabicPeriod"/>
              <a:defRPr lang="es-ES" sz="2000"/>
            </a:lvl5pPr>
          </a:lstStyle>
          <a:p>
            <a:pPr lvl="0" rtl="0"/>
            <a:r>
              <a:rPr lang="es-ES"/>
              <a:t>Haga clic para agregar contenido</a:t>
            </a:r>
          </a:p>
          <a:p>
            <a:pPr lvl="1" rtl="0"/>
            <a:r>
              <a:rPr lang="es-ES"/>
              <a:t>Segundo nivel</a:t>
            </a:r>
          </a:p>
          <a:p>
            <a:pPr lvl="2" rtl="0"/>
            <a:r>
              <a:rPr lang="es-ES"/>
              <a:t>Tercer nivel</a:t>
            </a:r>
          </a:p>
          <a:p>
            <a:pPr lvl="3" rtl="0"/>
            <a:endParaRPr lang="es-ES" dirty="0"/>
          </a:p>
        </p:txBody>
      </p:sp>
      <p:sp>
        <p:nvSpPr>
          <p:cNvPr id="2" name="Marcador de contenido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e imagen del título">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3" name="Marcador de contenido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Marcador de posición de imagen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es-ES" sz="2000">
                <a:solidFill>
                  <a:schemeClr val="bg1"/>
                </a:solidFill>
              </a:defRPr>
            </a:lvl1pPr>
          </a:lstStyle>
          <a:p>
            <a:pPr rtl="0"/>
            <a:r>
              <a:rPr lang="es-ES"/>
              <a:t>Haga clic en el icono para agregar una imagen</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y tabla del título">
    <p:bg>
      <p:bgPr>
        <a:solidFill>
          <a:schemeClr val="tx1"/>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orma libre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5" name="Forma libre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7" name="Forma libre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es-ES" sz="2000"/>
            </a:lvl1pPr>
            <a:lvl2pPr marL="457200" indent="0">
              <a:spcBef>
                <a:spcPts val="1800"/>
              </a:spcBef>
              <a:buNone/>
              <a:defRPr lang="es-ES" sz="2000"/>
            </a:lvl2pPr>
            <a:lvl3pPr marL="914400" indent="0">
              <a:spcBef>
                <a:spcPts val="1800"/>
              </a:spcBef>
              <a:buNone/>
              <a:defRPr lang="es-ES" sz="2000"/>
            </a:lvl3pPr>
            <a:lvl4pPr marL="1371600" indent="0">
              <a:spcBef>
                <a:spcPts val="1800"/>
              </a:spcBef>
              <a:buNone/>
              <a:defRPr lang="es-ES" sz="2000"/>
            </a:lvl4pPr>
            <a:lvl5pPr marL="1828800" indent="0">
              <a:spcBef>
                <a:spcPts val="1800"/>
              </a:spcBef>
              <a:buNone/>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dos contenidos">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es-ES" sz="2000"/>
            </a:lvl1pPr>
            <a:lvl2pPr>
              <a:spcBef>
                <a:spcPts val="18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a 2">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9" name="Marcador de posición de la tabla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es-ES"/>
            </a:lvl1pPr>
          </a:lstStyle>
          <a:p>
            <a:pPr rtl="0"/>
            <a:r>
              <a:rPr lang="es-ES"/>
              <a:t>Haga clic en el icono para agregar una tabla</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4" name="Conector recto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es-ES" sz="1100" b="0" i="0">
                <a:solidFill>
                  <a:schemeClr val="bg1"/>
                </a:solidFill>
                <a:latin typeface="+mn-lt"/>
              </a:defRPr>
            </a:lvl1pPr>
          </a:lstStyle>
          <a:p>
            <a:pPr rtl="0"/>
            <a:endParaRPr lang="es-ES" dirty="0">
              <a:latin typeface="+mn-lt"/>
            </a:endParaRPr>
          </a:p>
        </p:txBody>
      </p:sp>
      <p:sp>
        <p:nvSpPr>
          <p:cNvPr id="32" name="Marcador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es-ES" sz="1100" b="1" i="0">
                <a:solidFill>
                  <a:schemeClr val="bg1"/>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es-ES" sz="4400" b="1" i="0" kern="1200" spc="100" baseline="0">
          <a:solidFill>
            <a:schemeClr val="bg1"/>
          </a:solidFill>
          <a:latin typeface="+mj-lt"/>
          <a:ea typeface="+mj-ea"/>
          <a:cs typeface="+mj-cs"/>
        </a:defRPr>
      </a:lvl1pPr>
      <a:lvl2pPr eaLnBrk="1" hangingPunct="1">
        <a:defRPr lang="es-ES">
          <a:solidFill>
            <a:schemeClr val="tx2"/>
          </a:solidFill>
        </a:defRPr>
      </a:lvl2pPr>
      <a:lvl3pPr eaLnBrk="1" hangingPunct="1">
        <a:defRPr lang="es-ES">
          <a:solidFill>
            <a:schemeClr val="tx2"/>
          </a:solidFill>
        </a:defRPr>
      </a:lvl3pPr>
      <a:lvl4pPr eaLnBrk="1" hangingPunct="1">
        <a:defRPr lang="es-ES">
          <a:solidFill>
            <a:schemeClr val="tx2"/>
          </a:solidFill>
        </a:defRPr>
      </a:lvl4pPr>
      <a:lvl5pPr eaLnBrk="1" hangingPunct="1">
        <a:defRPr lang="es-ES">
          <a:solidFill>
            <a:schemeClr val="tx2"/>
          </a:solidFill>
        </a:defRPr>
      </a:lvl5pPr>
      <a:lvl6pPr eaLnBrk="1" hangingPunct="1">
        <a:defRPr lang="es-ES">
          <a:solidFill>
            <a:schemeClr val="tx2"/>
          </a:solidFill>
        </a:defRPr>
      </a:lvl6pPr>
      <a:lvl7pPr eaLnBrk="1" hangingPunct="1">
        <a:defRPr lang="es-ES">
          <a:solidFill>
            <a:schemeClr val="tx2"/>
          </a:solidFill>
        </a:defRPr>
      </a:lvl7pPr>
      <a:lvl8pPr eaLnBrk="1" hangingPunct="1">
        <a:defRPr lang="es-ES">
          <a:solidFill>
            <a:schemeClr val="tx2"/>
          </a:solidFill>
        </a:defRPr>
      </a:lvl8pPr>
      <a:lvl9pPr eaLnBrk="1" hangingPunct="1">
        <a:defRPr lang="es-ES">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es-ES"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es-ES"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es-ES"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1D9D6-2977-ABCD-FDF8-51AFA5064E54}"/>
              </a:ext>
            </a:extLst>
          </p:cNvPr>
          <p:cNvSpPr>
            <a:spLocks noGrp="1"/>
          </p:cNvSpPr>
          <p:nvPr>
            <p:ph type="ctrTitle"/>
          </p:nvPr>
        </p:nvSpPr>
        <p:spPr>
          <a:xfrm>
            <a:off x="6096000" y="411479"/>
            <a:ext cx="5700304" cy="3291840"/>
          </a:xfrm>
        </p:spPr>
        <p:txBody>
          <a:bodyPr rtlCol="0"/>
          <a:lstStyle>
            <a:defPPr>
              <a:defRPr lang="es-ES"/>
            </a:defPPr>
          </a:lstStyle>
          <a:p>
            <a:r>
              <a:rPr lang="es-CO" sz="5000" b="0" dirty="0"/>
              <a:t>GESTIÓN DEL MANTENIMIENTO</a:t>
            </a:r>
            <a:endParaRPr lang="es-ES" sz="5000" dirty="0"/>
          </a:p>
        </p:txBody>
      </p:sp>
      <p:sp>
        <p:nvSpPr>
          <p:cNvPr id="4" name="Marcador de texto 2">
            <a:extLst>
              <a:ext uri="{FF2B5EF4-FFF2-40B4-BE49-F238E27FC236}">
                <a16:creationId xmlns:a16="http://schemas.microsoft.com/office/drawing/2014/main" id="{55F01390-A090-48F7-3EEE-49E8D32F1460}"/>
              </a:ext>
            </a:extLst>
          </p:cNvPr>
          <p:cNvSpPr txBox="1">
            <a:spLocks/>
          </p:cNvSpPr>
          <p:nvPr/>
        </p:nvSpPr>
        <p:spPr>
          <a:xfrm>
            <a:off x="6096000" y="3703319"/>
            <a:ext cx="5044391" cy="2100322"/>
          </a:xfrm>
          <a:prstGeom prst="rect">
            <a:avLst/>
          </a:prstGeom>
        </p:spPr>
        <p:txBody>
          <a:bodyPr tIns="457200" rtlCol="0"/>
          <a:lstStyle>
            <a:defPPr>
              <a:defRPr lang="es-ES"/>
            </a:defPPr>
            <a:lvl1pPr marL="228600" indent="-283464" algn="l" defTabSz="914400" rtl="0" eaLnBrk="1" latinLnBrk="0" hangingPunct="1">
              <a:lnSpc>
                <a:spcPct val="90000"/>
              </a:lnSpc>
              <a:spcBef>
                <a:spcPts val="1000"/>
              </a:spcBef>
              <a:buFont typeface="Arial" panose="020B0604020202020204" pitchFamily="34" charset="0"/>
              <a:buChar char="•"/>
              <a:defRPr lang="es-ES"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es-ES"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es-ES"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buNone/>
            </a:pPr>
            <a:r>
              <a:rPr lang="es-CO" sz="1800" b="1" dirty="0"/>
              <a:t>Trabajo segundo corte</a:t>
            </a:r>
          </a:p>
          <a:p>
            <a:pPr marL="457200" lvl="1" indent="0">
              <a:buNone/>
            </a:pPr>
            <a:r>
              <a:rPr lang="es-CO" sz="2000" b="1" dirty="0"/>
              <a:t>Plataforma inteligente para la gestión de la integridad estructural</a:t>
            </a:r>
            <a:endParaRPr lang="es-MX" sz="1100" dirty="0"/>
          </a:p>
        </p:txBody>
      </p:sp>
      <p:pic>
        <p:nvPicPr>
          <p:cNvPr id="11" name="Imagen 10" descr="Universidad de La Sabana – teconecta.aesabana.org">
            <a:extLst>
              <a:ext uri="{FF2B5EF4-FFF2-40B4-BE49-F238E27FC236}">
                <a16:creationId xmlns:a16="http://schemas.microsoft.com/office/drawing/2014/main" id="{8692D63F-4CFB-A7B5-B9DD-3B92ADB4B7A0}"/>
              </a:ext>
            </a:extLst>
          </p:cNvPr>
          <p:cNvPicPr>
            <a:picLocks noChangeAspect="1"/>
          </p:cNvPicPr>
          <p:nvPr/>
        </p:nvPicPr>
        <p:blipFill>
          <a:blip r:embed="rId3"/>
          <a:srcRect l="4647" t="14433" r="6366" b="15578"/>
          <a:stretch>
            <a:fillRect/>
          </a:stretch>
        </p:blipFill>
        <p:spPr>
          <a:xfrm>
            <a:off x="9103346" y="411479"/>
            <a:ext cx="2692958" cy="812875"/>
          </a:xfrm>
          <a:prstGeom prst="rect">
            <a:avLst/>
          </a:prstGeom>
        </p:spPr>
      </p:pic>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7863840" cy="1645920"/>
          </a:xfrm>
        </p:spPr>
        <p:txBody>
          <a:bodyPr/>
          <a:lstStyle/>
          <a:p>
            <a:r>
              <a:t>El reto</a:t>
            </a:r>
          </a:p>
        </p:txBody>
      </p:sp>
      <p:sp>
        <p:nvSpPr>
          <p:cNvPr id="3" name="TextBox 2"/>
          <p:cNvSpPr txBox="1"/>
          <p:nvPr/>
        </p:nvSpPr>
        <p:spPr>
          <a:xfrm>
            <a:off x="594361" y="2331720"/>
            <a:ext cx="5283926" cy="3108543"/>
          </a:xfrm>
          <a:prstGeom prst="rect">
            <a:avLst/>
          </a:prstGeom>
          <a:noFill/>
        </p:spPr>
        <p:txBody>
          <a:bodyPr wrap="square" lIns="45720" rIns="45720" anchor="t">
            <a:spAutoFit/>
          </a:bodyPr>
          <a:lstStyle/>
          <a:p>
            <a:pPr algn="just"/>
            <a:r>
              <a:rPr lang="es-CO" sz="1400" b="1" dirty="0">
                <a:solidFill>
                  <a:schemeClr val="bg1"/>
                </a:solidFill>
              </a:rPr>
              <a:t>Plataforma inteligente para la gestión de la integridad estructural</a:t>
            </a:r>
            <a:endParaRPr lang="es-CO" sz="1400" dirty="0">
              <a:solidFill>
                <a:schemeClr val="bg1"/>
              </a:solidFill>
            </a:endParaRPr>
          </a:p>
          <a:p>
            <a:pPr algn="just"/>
            <a:r>
              <a:rPr lang="es-CO" sz="1400" dirty="0">
                <a:solidFill>
                  <a:schemeClr val="bg1"/>
                </a:solidFill>
              </a:rPr>
              <a:t>Durante los últimos dos años se han generado miles de datos producto de las inspecciones estructurales de los equipos de una flota.</a:t>
            </a:r>
          </a:p>
          <a:p>
            <a:pPr algn="just"/>
            <a:r>
              <a:rPr lang="es-CO" sz="1400" b="1" dirty="0">
                <a:solidFill>
                  <a:schemeClr val="bg1"/>
                </a:solidFill>
              </a:rPr>
              <a:t>El desafío es convertir esos datos en conocimiento.</a:t>
            </a:r>
            <a:endParaRPr lang="es-CO" sz="1400" dirty="0">
              <a:solidFill>
                <a:schemeClr val="bg1"/>
              </a:solidFill>
            </a:endParaRPr>
          </a:p>
          <a:p>
            <a:pPr algn="just"/>
            <a:r>
              <a:rPr lang="es-CO" sz="1400" dirty="0">
                <a:solidFill>
                  <a:schemeClr val="bg1"/>
                </a:solidFill>
              </a:rPr>
              <a:t>Diseñe y construya una plataforma digital que permita navegar desde la visión global de la flota hasta el historial de una grieta específica, integrando datos, imágenes, tendencias e indicadores.</a:t>
            </a:r>
          </a:p>
          <a:p>
            <a:pPr algn="just"/>
            <a:r>
              <a:rPr lang="es-CO" sz="1400" dirty="0">
                <a:solidFill>
                  <a:schemeClr val="bg1"/>
                </a:solidFill>
              </a:rPr>
              <a:t>La solución deberá ser </a:t>
            </a:r>
            <a:r>
              <a:rPr lang="es-CO" sz="1400" b="1" dirty="0">
                <a:solidFill>
                  <a:schemeClr val="bg1"/>
                </a:solidFill>
              </a:rPr>
              <a:t>gráfica, interactiva, intuitiva y orientada a la toma de decisiones de mantenimiento</a:t>
            </a:r>
            <a:r>
              <a:rPr lang="es-CO" sz="1400" dirty="0">
                <a:solidFill>
                  <a:schemeClr val="bg1"/>
                </a:solidFill>
              </a:rPr>
              <a:t>.</a:t>
            </a:r>
          </a:p>
          <a:p>
            <a:pPr algn="just"/>
            <a:r>
              <a:rPr lang="es-CO" sz="1400" dirty="0">
                <a:solidFill>
                  <a:schemeClr val="bg1"/>
                </a:solidFill>
              </a:rPr>
              <a:t>La tecnología es libre.</a:t>
            </a:r>
          </a:p>
          <a:p>
            <a:pPr algn="just"/>
            <a:r>
              <a:rPr lang="es-CO" sz="1400" dirty="0">
                <a:solidFill>
                  <a:schemeClr val="bg1"/>
                </a:solidFill>
              </a:rPr>
              <a:t>La Inteligencia Artificial está permitida y se invita a utilizarla.</a:t>
            </a:r>
          </a:p>
          <a:p>
            <a:pPr algn="just"/>
            <a:r>
              <a:rPr lang="es-CO" sz="1400" b="1" dirty="0">
                <a:solidFill>
                  <a:schemeClr val="bg1"/>
                </a:solidFill>
              </a:rPr>
              <a:t>Pero recuerde: una herramienta sofisticada que no ayuda a tomar mejores decisiones de mantenimiento no resuelve el problema.</a:t>
            </a:r>
            <a:endParaRPr lang="es-CO" sz="1400" dirty="0">
              <a:solidFill>
                <a:schemeClr val="bg1"/>
              </a:solidFill>
            </a:endParaRPr>
          </a:p>
        </p:txBody>
      </p:sp>
      <p:sp>
        <p:nvSpPr>
          <p:cNvPr id="4" name="Rounded Rectangle 3"/>
          <p:cNvSpPr/>
          <p:nvPr/>
        </p:nvSpPr>
        <p:spPr>
          <a:xfrm>
            <a:off x="715658" y="5457475"/>
            <a:ext cx="4754880" cy="100584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300"/>
              </a:spcAft>
            </a:pPr>
            <a:r>
              <a:rPr sz="1200" b="1" i="0" dirty="0">
                <a:solidFill>
                  <a:srgbClr val="242852"/>
                </a:solidFill>
              </a:rPr>
              <a:t>Cada grupo recibe: </a:t>
            </a:r>
            <a:r>
              <a:rPr sz="1200" b="0" i="0" dirty="0">
                <a:solidFill>
                  <a:srgbClr val="404040"/>
                </a:solidFill>
              </a:rPr>
              <a:t>historial de grietas (Excel), formato de inspección (Word), esquemas por zona y fotos.</a:t>
            </a:r>
          </a:p>
          <a:p>
            <a:pPr algn="l">
              <a:spcAft>
                <a:spcPts val="300"/>
              </a:spcAft>
            </a:pPr>
            <a:r>
              <a:rPr sz="1200" b="0" i="1" dirty="0">
                <a:solidFill>
                  <a:srgbClr val="1E5F9F"/>
                </a:solidFill>
              </a:rPr>
              <a:t>Los datos vienen de campo: revísenlos antes de confiar en ellos.</a:t>
            </a:r>
          </a:p>
        </p:txBody>
      </p:sp>
      <p:pic>
        <p:nvPicPr>
          <p:cNvPr id="8" name="Imagen 7">
            <a:extLst>
              <a:ext uri="{FF2B5EF4-FFF2-40B4-BE49-F238E27FC236}">
                <a16:creationId xmlns:a16="http://schemas.microsoft.com/office/drawing/2014/main" id="{A4363BDA-DDE8-0CE9-E1F7-30B7F89F9BCF}"/>
              </a:ext>
            </a:extLst>
          </p:cNvPr>
          <p:cNvPicPr>
            <a:picLocks noChangeAspect="1"/>
          </p:cNvPicPr>
          <p:nvPr/>
        </p:nvPicPr>
        <p:blipFill>
          <a:blip r:embed="rId2"/>
          <a:stretch>
            <a:fillRect/>
          </a:stretch>
        </p:blipFill>
        <p:spPr>
          <a:xfrm>
            <a:off x="6096000" y="732177"/>
            <a:ext cx="5355460" cy="2943151"/>
          </a:xfrm>
          <a:prstGeom prst="rect">
            <a:avLst/>
          </a:prstGeom>
          <a:ln>
            <a:noFill/>
          </a:ln>
          <a:effectLst>
            <a:outerShdw blurRad="292100" dist="139700" dir="2700000" algn="tl" rotWithShape="0">
              <a:srgbClr val="333333">
                <a:alpha val="65000"/>
              </a:srgbClr>
            </a:outerShdw>
          </a:effectLst>
        </p:spPr>
      </p:pic>
      <p:pic>
        <p:nvPicPr>
          <p:cNvPr id="10" name="Imagen 9">
            <a:extLst>
              <a:ext uri="{FF2B5EF4-FFF2-40B4-BE49-F238E27FC236}">
                <a16:creationId xmlns:a16="http://schemas.microsoft.com/office/drawing/2014/main" id="{9D66B392-4762-AFD6-19E1-277AE6C2A9DB}"/>
              </a:ext>
            </a:extLst>
          </p:cNvPr>
          <p:cNvPicPr>
            <a:picLocks noChangeAspect="1"/>
          </p:cNvPicPr>
          <p:nvPr/>
        </p:nvPicPr>
        <p:blipFill>
          <a:blip r:embed="rId3"/>
          <a:stretch>
            <a:fillRect/>
          </a:stretch>
        </p:blipFill>
        <p:spPr>
          <a:xfrm>
            <a:off x="7323017" y="3848668"/>
            <a:ext cx="3388526" cy="254533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E2773-253D-499F-6C62-7501F5241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93D69-4A2B-60F2-3FC0-49BCF1FFC700}"/>
              </a:ext>
            </a:extLst>
          </p:cNvPr>
          <p:cNvSpPr>
            <a:spLocks noGrp="1"/>
          </p:cNvSpPr>
          <p:nvPr>
            <p:ph type="title"/>
          </p:nvPr>
        </p:nvSpPr>
        <p:spPr>
          <a:xfrm>
            <a:off x="548640" y="274320"/>
            <a:ext cx="7863840" cy="1645920"/>
          </a:xfrm>
        </p:spPr>
        <p:txBody>
          <a:bodyPr/>
          <a:lstStyle/>
          <a:p>
            <a:r>
              <a:t>El reto</a:t>
            </a:r>
          </a:p>
        </p:txBody>
      </p:sp>
      <p:sp>
        <p:nvSpPr>
          <p:cNvPr id="4" name="Rounded Rectangle 3">
            <a:extLst>
              <a:ext uri="{FF2B5EF4-FFF2-40B4-BE49-F238E27FC236}">
                <a16:creationId xmlns:a16="http://schemas.microsoft.com/office/drawing/2014/main" id="{57C95F53-7324-DB9A-E6FF-B9666531EDDA}"/>
              </a:ext>
            </a:extLst>
          </p:cNvPr>
          <p:cNvSpPr/>
          <p:nvPr/>
        </p:nvSpPr>
        <p:spPr>
          <a:xfrm>
            <a:off x="6805126" y="3502152"/>
            <a:ext cx="4754880" cy="156437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just">
              <a:spcAft>
                <a:spcPts val="300"/>
              </a:spcAft>
            </a:pPr>
            <a:r>
              <a:rPr lang="es-CO" sz="1400" dirty="0">
                <a:solidFill>
                  <a:schemeClr val="bg1"/>
                </a:solidFill>
              </a:rPr>
              <a:t>El trabajo es individual, pero a cada grupo se le asignó un equipo específico. Dentro de ese equipo hay un componente para cada integrante, así que les propongo que cada uno escoja un componente diferente, de manera que puedan trabajar sobre aspectos distintos del mismo equipo.</a:t>
            </a:r>
            <a:endParaRPr sz="1400" i="1" dirty="0">
              <a:solidFill>
                <a:schemeClr val="bg1"/>
              </a:solidFill>
            </a:endParaRPr>
          </a:p>
        </p:txBody>
      </p:sp>
      <p:graphicFrame>
        <p:nvGraphicFramePr>
          <p:cNvPr id="5" name="Table 4">
            <a:extLst>
              <a:ext uri="{FF2B5EF4-FFF2-40B4-BE49-F238E27FC236}">
                <a16:creationId xmlns:a16="http://schemas.microsoft.com/office/drawing/2014/main" id="{11D155CA-9027-2A38-6AAF-85BAC8D38BA9}"/>
              </a:ext>
            </a:extLst>
          </p:cNvPr>
          <p:cNvGraphicFramePr>
            <a:graphicFrameLocks noGrp="1"/>
          </p:cNvGraphicFramePr>
          <p:nvPr>
            <p:extLst>
              <p:ext uri="{D42A27DB-BD31-4B8C-83A1-F6EECF244321}">
                <p14:modId xmlns:p14="http://schemas.microsoft.com/office/powerpoint/2010/main" val="2589053468"/>
              </p:ext>
            </p:extLst>
          </p:nvPr>
        </p:nvGraphicFramePr>
        <p:xfrm>
          <a:off x="548640" y="2432304"/>
          <a:ext cx="5852159" cy="3145536"/>
        </p:xfrm>
        <a:graphic>
          <a:graphicData uri="http://schemas.openxmlformats.org/drawingml/2006/table">
            <a:tbl>
              <a:tblPr firstRow="1" bandRow="1"/>
              <a:tblGrid>
                <a:gridCol w="86868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93192">
                <a:tc>
                  <a:txBody>
                    <a:bodyPr/>
                    <a:lstStyle/>
                    <a:p>
                      <a:pPr algn="l"/>
                      <a:r>
                        <a:rPr sz="1100" b="1">
                          <a:solidFill>
                            <a:srgbClr val="FFFFFF"/>
                          </a:solidFill>
                        </a:rPr>
                        <a:t>Grupo</a:t>
                      </a:r>
                    </a:p>
                  </a:txBody>
                  <a:tcPr marL="73152" marR="73152" marT="27432" marB="27432" anchor="ctr">
                    <a:solidFill>
                      <a:srgbClr val="4A66AC"/>
                    </a:solidFill>
                  </a:tcPr>
                </a:tc>
                <a:tc>
                  <a:txBody>
                    <a:bodyPr/>
                    <a:lstStyle/>
                    <a:p>
                      <a:pPr algn="l"/>
                      <a:r>
                        <a:rPr sz="1100" b="1">
                          <a:solidFill>
                            <a:srgbClr val="FFFFFF"/>
                          </a:solidFill>
                        </a:rPr>
                        <a:t>Flota</a:t>
                      </a:r>
                    </a:p>
                  </a:txBody>
                  <a:tcPr marL="73152" marR="73152" marT="27432" marB="27432" anchor="ctr">
                    <a:solidFill>
                      <a:srgbClr val="4A66AC"/>
                    </a:solidFill>
                  </a:tcPr>
                </a:tc>
                <a:tc>
                  <a:txBody>
                    <a:bodyPr/>
                    <a:lstStyle/>
                    <a:p>
                      <a:pPr algn="l"/>
                      <a:r>
                        <a:rPr sz="1100" b="1" dirty="0">
                          <a:solidFill>
                            <a:srgbClr val="FFFFFF"/>
                          </a:solidFill>
                        </a:rPr>
                        <a:t>Componentes / Zonas (una por integrante)</a:t>
                      </a:r>
                    </a:p>
                  </a:txBody>
                  <a:tcPr marL="73152" marR="73152" marT="27432" marB="27432" anchor="ctr">
                    <a:solidFill>
                      <a:srgbClr val="4A66AC"/>
                    </a:solidFill>
                  </a:tcPr>
                </a:tc>
                <a:extLst>
                  <a:ext uri="{0D108BD9-81ED-4DB2-BD59-A6C34878D82A}">
                    <a16:rowId xmlns:a16="http://schemas.microsoft.com/office/drawing/2014/main" val="10000"/>
                  </a:ext>
                </a:extLst>
              </a:tr>
              <a:tr h="393192">
                <a:tc>
                  <a:txBody>
                    <a:bodyPr/>
                    <a:lstStyle/>
                    <a:p>
                      <a:pPr algn="ctr"/>
                      <a:r>
                        <a:rPr sz="1100" b="0">
                          <a:solidFill>
                            <a:srgbClr val="404040"/>
                          </a:solidFill>
                        </a:rPr>
                        <a:t>1</a:t>
                      </a:r>
                    </a:p>
                  </a:txBody>
                  <a:tcPr marL="73152" marR="73152" marT="27432" marB="27432" anchor="ctr">
                    <a:solidFill>
                      <a:srgbClr val="FFFFFF"/>
                    </a:solidFill>
                  </a:tcPr>
                </a:tc>
                <a:tc>
                  <a:txBody>
                    <a:bodyPr/>
                    <a:lstStyle/>
                    <a:p>
                      <a:pPr algn="l"/>
                      <a:r>
                        <a:rPr sz="1100" b="0" dirty="0">
                          <a:solidFill>
                            <a:srgbClr val="404040"/>
                          </a:solidFill>
                        </a:rPr>
                        <a:t>Camión Hitachi EH4000</a:t>
                      </a:r>
                    </a:p>
                  </a:txBody>
                  <a:tcPr marL="73152" marR="73152" marT="27432" marB="27432" anchor="ctr">
                    <a:solidFill>
                      <a:srgbClr val="FFFFFF"/>
                    </a:solidFill>
                  </a:tcPr>
                </a:tc>
                <a:tc>
                  <a:txBody>
                    <a:bodyPr/>
                    <a:lstStyle/>
                    <a:p>
                      <a:pPr algn="l"/>
                      <a:r>
                        <a:rPr sz="1100" b="0">
                          <a:solidFill>
                            <a:srgbClr val="404040"/>
                          </a:solidFill>
                        </a:rPr>
                        <a:t>Viga der. · Nose cone · Tijeras y spindle</a:t>
                      </a:r>
                    </a:p>
                  </a:txBody>
                  <a:tcPr marL="73152" marR="73152" marT="27432" marB="27432" anchor="ctr">
                    <a:solidFill>
                      <a:srgbClr val="FFFFFF"/>
                    </a:solidFill>
                  </a:tcPr>
                </a:tc>
                <a:extLst>
                  <a:ext uri="{0D108BD9-81ED-4DB2-BD59-A6C34878D82A}">
                    <a16:rowId xmlns:a16="http://schemas.microsoft.com/office/drawing/2014/main" val="10001"/>
                  </a:ext>
                </a:extLst>
              </a:tr>
              <a:tr h="393192">
                <a:tc>
                  <a:txBody>
                    <a:bodyPr/>
                    <a:lstStyle/>
                    <a:p>
                      <a:pPr algn="ctr"/>
                      <a:r>
                        <a:rPr sz="1100" b="0">
                          <a:solidFill>
                            <a:srgbClr val="404040"/>
                          </a:solidFill>
                        </a:rPr>
                        <a:t>2</a:t>
                      </a:r>
                    </a:p>
                  </a:txBody>
                  <a:tcPr marL="73152" marR="73152" marT="27432" marB="27432" anchor="ctr">
                    <a:solidFill>
                      <a:srgbClr val="EAF1FB"/>
                    </a:solidFill>
                  </a:tcPr>
                </a:tc>
                <a:tc>
                  <a:txBody>
                    <a:bodyPr/>
                    <a:lstStyle/>
                    <a:p>
                      <a:pPr algn="l"/>
                      <a:r>
                        <a:rPr sz="1100" b="0" dirty="0">
                          <a:solidFill>
                            <a:srgbClr val="404040"/>
                          </a:solidFill>
                        </a:rPr>
                        <a:t>Camión CAT 793D</a:t>
                      </a:r>
                    </a:p>
                  </a:txBody>
                  <a:tcPr marL="73152" marR="73152" marT="27432" marB="27432" anchor="ctr">
                    <a:solidFill>
                      <a:srgbClr val="EAF1FB"/>
                    </a:solidFill>
                  </a:tcPr>
                </a:tc>
                <a:tc>
                  <a:txBody>
                    <a:bodyPr/>
                    <a:lstStyle/>
                    <a:p>
                      <a:pPr algn="l"/>
                      <a:r>
                        <a:rPr sz="1100" b="0">
                          <a:solidFill>
                            <a:srgbClr val="404040"/>
                          </a:solidFill>
                        </a:rPr>
                        <a:t>Columnas · Vigas laterales · Suspensión trasera</a:t>
                      </a:r>
                    </a:p>
                  </a:txBody>
                  <a:tcPr marL="73152" marR="73152" marT="27432" marB="27432" anchor="ctr">
                    <a:solidFill>
                      <a:srgbClr val="EAF1FB"/>
                    </a:solidFill>
                  </a:tcPr>
                </a:tc>
                <a:extLst>
                  <a:ext uri="{0D108BD9-81ED-4DB2-BD59-A6C34878D82A}">
                    <a16:rowId xmlns:a16="http://schemas.microsoft.com/office/drawing/2014/main" val="10002"/>
                  </a:ext>
                </a:extLst>
              </a:tr>
              <a:tr h="393192">
                <a:tc>
                  <a:txBody>
                    <a:bodyPr/>
                    <a:lstStyle/>
                    <a:p>
                      <a:pPr algn="ctr"/>
                      <a:r>
                        <a:rPr sz="1100" b="0">
                          <a:solidFill>
                            <a:srgbClr val="404040"/>
                          </a:solidFill>
                        </a:rPr>
                        <a:t>3</a:t>
                      </a:r>
                    </a:p>
                  </a:txBody>
                  <a:tcPr marL="73152" marR="73152" marT="27432" marB="27432" anchor="ctr">
                    <a:solidFill>
                      <a:srgbClr val="FFFFFF"/>
                    </a:solidFill>
                  </a:tcPr>
                </a:tc>
                <a:tc>
                  <a:txBody>
                    <a:bodyPr/>
                    <a:lstStyle/>
                    <a:p>
                      <a:pPr algn="l"/>
                      <a:r>
                        <a:rPr sz="1100" b="0" dirty="0">
                          <a:solidFill>
                            <a:srgbClr val="404040"/>
                          </a:solidFill>
                        </a:rPr>
                        <a:t>Traílla CAT 631G</a:t>
                      </a:r>
                    </a:p>
                  </a:txBody>
                  <a:tcPr marL="73152" marR="73152" marT="27432" marB="27432" anchor="ctr">
                    <a:solidFill>
                      <a:srgbClr val="FFFFFF"/>
                    </a:solidFill>
                  </a:tcPr>
                </a:tc>
                <a:tc>
                  <a:txBody>
                    <a:bodyPr/>
                    <a:lstStyle/>
                    <a:p>
                      <a:pPr algn="l"/>
                      <a:r>
                        <a:rPr sz="1100" b="0">
                          <a:solidFill>
                            <a:srgbClr val="404040"/>
                          </a:solidFill>
                        </a:rPr>
                        <a:t>Caja · Eyector · Apron</a:t>
                      </a:r>
                    </a:p>
                  </a:txBody>
                  <a:tcPr marL="73152" marR="73152" marT="27432" marB="27432" anchor="ctr">
                    <a:solidFill>
                      <a:srgbClr val="FFFFFF"/>
                    </a:solidFill>
                  </a:tcPr>
                </a:tc>
                <a:extLst>
                  <a:ext uri="{0D108BD9-81ED-4DB2-BD59-A6C34878D82A}">
                    <a16:rowId xmlns:a16="http://schemas.microsoft.com/office/drawing/2014/main" val="10003"/>
                  </a:ext>
                </a:extLst>
              </a:tr>
              <a:tr h="393192">
                <a:tc>
                  <a:txBody>
                    <a:bodyPr/>
                    <a:lstStyle/>
                    <a:p>
                      <a:pPr algn="ctr"/>
                      <a:r>
                        <a:rPr sz="1100" b="0">
                          <a:solidFill>
                            <a:srgbClr val="404040"/>
                          </a:solidFill>
                        </a:rPr>
                        <a:t>4</a:t>
                      </a:r>
                    </a:p>
                  </a:txBody>
                  <a:tcPr marL="73152" marR="73152" marT="27432" marB="27432" anchor="ctr">
                    <a:solidFill>
                      <a:srgbClr val="EAF1FB"/>
                    </a:solidFill>
                  </a:tcPr>
                </a:tc>
                <a:tc>
                  <a:txBody>
                    <a:bodyPr/>
                    <a:lstStyle/>
                    <a:p>
                      <a:pPr algn="l"/>
                      <a:r>
                        <a:rPr sz="1100" b="0" dirty="0">
                          <a:solidFill>
                            <a:srgbClr val="404040"/>
                          </a:solidFill>
                        </a:rPr>
                        <a:t>Tractor de llantas CAT 834H</a:t>
                      </a:r>
                    </a:p>
                  </a:txBody>
                  <a:tcPr marL="73152" marR="73152" marT="27432" marB="27432" anchor="ctr">
                    <a:solidFill>
                      <a:srgbClr val="EAF1FB"/>
                    </a:solidFill>
                  </a:tcPr>
                </a:tc>
                <a:tc>
                  <a:txBody>
                    <a:bodyPr/>
                    <a:lstStyle/>
                    <a:p>
                      <a:pPr algn="l"/>
                      <a:r>
                        <a:rPr sz="1100" b="0" dirty="0">
                          <a:solidFill>
                            <a:srgbClr val="404040"/>
                          </a:solidFill>
                        </a:rPr>
                        <a:t>Chasis delantero · Hoja · Estabilizador</a:t>
                      </a:r>
                    </a:p>
                  </a:txBody>
                  <a:tcPr marL="73152" marR="73152" marT="27432" marB="27432" anchor="ctr">
                    <a:solidFill>
                      <a:srgbClr val="EAF1FB"/>
                    </a:solidFill>
                  </a:tcPr>
                </a:tc>
                <a:extLst>
                  <a:ext uri="{0D108BD9-81ED-4DB2-BD59-A6C34878D82A}">
                    <a16:rowId xmlns:a16="http://schemas.microsoft.com/office/drawing/2014/main" val="10004"/>
                  </a:ext>
                </a:extLst>
              </a:tr>
              <a:tr h="393192">
                <a:tc>
                  <a:txBody>
                    <a:bodyPr/>
                    <a:lstStyle/>
                    <a:p>
                      <a:pPr algn="ctr"/>
                      <a:r>
                        <a:rPr sz="1100" b="0">
                          <a:solidFill>
                            <a:srgbClr val="404040"/>
                          </a:solidFill>
                        </a:rPr>
                        <a:t>5</a:t>
                      </a:r>
                    </a:p>
                  </a:txBody>
                  <a:tcPr marL="73152" marR="73152" marT="27432" marB="27432" anchor="ctr">
                    <a:solidFill>
                      <a:srgbClr val="FFFFFF"/>
                    </a:solidFill>
                  </a:tcPr>
                </a:tc>
                <a:tc>
                  <a:txBody>
                    <a:bodyPr/>
                    <a:lstStyle/>
                    <a:p>
                      <a:pPr algn="l"/>
                      <a:r>
                        <a:rPr sz="1100" b="0" dirty="0">
                          <a:solidFill>
                            <a:srgbClr val="404040"/>
                          </a:solidFill>
                        </a:rPr>
                        <a:t>Pala Hitachi EX3600</a:t>
                      </a:r>
                    </a:p>
                  </a:txBody>
                  <a:tcPr marL="73152" marR="73152" marT="27432" marB="27432" anchor="ctr">
                    <a:solidFill>
                      <a:srgbClr val="FFFFFF"/>
                    </a:solidFill>
                  </a:tcPr>
                </a:tc>
                <a:tc>
                  <a:txBody>
                    <a:bodyPr/>
                    <a:lstStyle/>
                    <a:p>
                      <a:pPr algn="l"/>
                      <a:r>
                        <a:rPr sz="1100" b="0">
                          <a:solidFill>
                            <a:srgbClr val="404040"/>
                          </a:solidFill>
                        </a:rPr>
                        <a:t>Boom · Brazo · Cucharón</a:t>
                      </a:r>
                    </a:p>
                  </a:txBody>
                  <a:tcPr marL="73152" marR="73152" marT="27432" marB="27432" anchor="ctr">
                    <a:solidFill>
                      <a:srgbClr val="FFFFFF"/>
                    </a:solidFill>
                  </a:tcPr>
                </a:tc>
                <a:extLst>
                  <a:ext uri="{0D108BD9-81ED-4DB2-BD59-A6C34878D82A}">
                    <a16:rowId xmlns:a16="http://schemas.microsoft.com/office/drawing/2014/main" val="10005"/>
                  </a:ext>
                </a:extLst>
              </a:tr>
              <a:tr h="393192">
                <a:tc>
                  <a:txBody>
                    <a:bodyPr/>
                    <a:lstStyle/>
                    <a:p>
                      <a:pPr algn="ctr"/>
                      <a:r>
                        <a:rPr sz="1100" b="0">
                          <a:solidFill>
                            <a:srgbClr val="404040"/>
                          </a:solidFill>
                        </a:rPr>
                        <a:t>6</a:t>
                      </a:r>
                    </a:p>
                  </a:txBody>
                  <a:tcPr marL="73152" marR="73152" marT="27432" marB="27432" anchor="ctr">
                    <a:solidFill>
                      <a:srgbClr val="EAF1FB"/>
                    </a:solidFill>
                  </a:tcPr>
                </a:tc>
                <a:tc>
                  <a:txBody>
                    <a:bodyPr/>
                    <a:lstStyle/>
                    <a:p>
                      <a:pPr algn="l"/>
                      <a:r>
                        <a:rPr sz="1100" b="0" dirty="0">
                          <a:solidFill>
                            <a:srgbClr val="404040"/>
                          </a:solidFill>
                        </a:rPr>
                        <a:t>Tractor de oruga CAT D11T</a:t>
                      </a:r>
                    </a:p>
                  </a:txBody>
                  <a:tcPr marL="73152" marR="73152" marT="27432" marB="27432" anchor="ctr">
                    <a:solidFill>
                      <a:srgbClr val="EAF1FB"/>
                    </a:solidFill>
                  </a:tcPr>
                </a:tc>
                <a:tc>
                  <a:txBody>
                    <a:bodyPr/>
                    <a:lstStyle/>
                    <a:p>
                      <a:pPr algn="l"/>
                      <a:r>
                        <a:rPr sz="1100" b="0">
                          <a:solidFill>
                            <a:srgbClr val="404040"/>
                          </a:solidFill>
                        </a:rPr>
                        <a:t>Hoja · Chasis de rodaje · Brazos de empuje</a:t>
                      </a:r>
                    </a:p>
                  </a:txBody>
                  <a:tcPr marL="73152" marR="73152" marT="27432" marB="27432" anchor="ctr">
                    <a:solidFill>
                      <a:srgbClr val="EAF1FB"/>
                    </a:solidFill>
                  </a:tcPr>
                </a:tc>
                <a:extLst>
                  <a:ext uri="{0D108BD9-81ED-4DB2-BD59-A6C34878D82A}">
                    <a16:rowId xmlns:a16="http://schemas.microsoft.com/office/drawing/2014/main" val="10006"/>
                  </a:ext>
                </a:extLst>
              </a:tr>
              <a:tr h="393192">
                <a:tc>
                  <a:txBody>
                    <a:bodyPr/>
                    <a:lstStyle/>
                    <a:p>
                      <a:pPr algn="ctr"/>
                      <a:r>
                        <a:rPr sz="1100" b="0">
                          <a:solidFill>
                            <a:srgbClr val="404040"/>
                          </a:solidFill>
                        </a:rPr>
                        <a:t>7 (4 int.)</a:t>
                      </a:r>
                    </a:p>
                  </a:txBody>
                  <a:tcPr marL="73152" marR="73152" marT="27432" marB="27432" anchor="ctr">
                    <a:solidFill>
                      <a:srgbClr val="FFFFFF"/>
                    </a:solidFill>
                  </a:tcPr>
                </a:tc>
                <a:tc>
                  <a:txBody>
                    <a:bodyPr/>
                    <a:lstStyle/>
                    <a:p>
                      <a:pPr algn="l"/>
                      <a:r>
                        <a:rPr sz="1100" b="0" dirty="0">
                          <a:solidFill>
                            <a:srgbClr val="404040"/>
                          </a:solidFill>
                        </a:rPr>
                        <a:t>Camión H</a:t>
                      </a:r>
                      <a:r>
                        <a:rPr lang="es-CO" sz="1100" b="0" dirty="0">
                          <a:solidFill>
                            <a:srgbClr val="404040"/>
                          </a:solidFill>
                        </a:rPr>
                        <a:t>i</a:t>
                      </a:r>
                      <a:r>
                        <a:rPr sz="1100" b="0" dirty="0" err="1">
                          <a:solidFill>
                            <a:srgbClr val="404040"/>
                          </a:solidFill>
                        </a:rPr>
                        <a:t>tachi</a:t>
                      </a:r>
                      <a:r>
                        <a:rPr sz="1100" b="0" dirty="0">
                          <a:solidFill>
                            <a:srgbClr val="404040"/>
                          </a:solidFill>
                        </a:rPr>
                        <a:t> EH5000</a:t>
                      </a:r>
                    </a:p>
                  </a:txBody>
                  <a:tcPr marL="73152" marR="73152" marT="27432" marB="27432" anchor="ctr">
                    <a:solidFill>
                      <a:srgbClr val="FFFFFF"/>
                    </a:solidFill>
                  </a:tcPr>
                </a:tc>
                <a:tc>
                  <a:txBody>
                    <a:bodyPr/>
                    <a:lstStyle/>
                    <a:p>
                      <a:pPr algn="l"/>
                      <a:r>
                        <a:rPr sz="1100" b="0" dirty="0">
                          <a:solidFill>
                            <a:srgbClr val="404040"/>
                          </a:solidFill>
                        </a:rPr>
                        <a:t>Viga izq. · Viga </a:t>
                      </a:r>
                      <a:r>
                        <a:rPr sz="1100" b="0" dirty="0" err="1">
                          <a:solidFill>
                            <a:srgbClr val="404040"/>
                          </a:solidFill>
                        </a:rPr>
                        <a:t>der</a:t>
                      </a:r>
                      <a:r>
                        <a:rPr sz="1100" b="0" dirty="0">
                          <a:solidFill>
                            <a:srgbClr val="404040"/>
                          </a:solidFill>
                        </a:rPr>
                        <a:t>. · </a:t>
                      </a:r>
                      <a:r>
                        <a:rPr sz="1100" b="0" dirty="0" err="1">
                          <a:solidFill>
                            <a:srgbClr val="404040"/>
                          </a:solidFill>
                        </a:rPr>
                        <a:t>Housing</a:t>
                      </a:r>
                      <a:r>
                        <a:rPr sz="1100" b="0" dirty="0">
                          <a:solidFill>
                            <a:srgbClr val="404040"/>
                          </a:solidFill>
                        </a:rPr>
                        <a:t> · Puente trasero</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66600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7863840" cy="1645920"/>
          </a:xfrm>
        </p:spPr>
        <p:txBody>
          <a:bodyPr/>
          <a:lstStyle/>
          <a:p>
            <a:r>
              <a:rPr dirty="0"/>
              <a:t>La plataforma</a:t>
            </a:r>
          </a:p>
        </p:txBody>
      </p:sp>
      <p:sp>
        <p:nvSpPr>
          <p:cNvPr id="3" name="TextBox 2"/>
          <p:cNvSpPr txBox="1"/>
          <p:nvPr/>
        </p:nvSpPr>
        <p:spPr>
          <a:xfrm>
            <a:off x="594360" y="2221991"/>
            <a:ext cx="7315200" cy="365760"/>
          </a:xfrm>
          <a:prstGeom prst="rect">
            <a:avLst/>
          </a:prstGeom>
          <a:noFill/>
        </p:spPr>
        <p:txBody>
          <a:bodyPr wrap="square" lIns="45720" rIns="45720" anchor="t">
            <a:spAutoFit/>
          </a:bodyPr>
          <a:lstStyle/>
          <a:p>
            <a:pPr algn="l">
              <a:spcAft>
                <a:spcPts val="400"/>
              </a:spcAft>
            </a:pPr>
            <a:r>
              <a:rPr sz="1500" b="1" i="0">
                <a:solidFill>
                  <a:srgbClr val="242852"/>
                </a:solidFill>
              </a:rPr>
              <a:t>Requisitos mínimos</a:t>
            </a:r>
          </a:p>
        </p:txBody>
      </p:sp>
      <p:sp>
        <p:nvSpPr>
          <p:cNvPr id="4" name="Rounded Rectangle 3"/>
          <p:cNvSpPr/>
          <p:nvPr/>
        </p:nvSpPr>
        <p:spPr>
          <a:xfrm>
            <a:off x="594360" y="2651760"/>
            <a:ext cx="3383280" cy="100584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31520" y="2788920"/>
            <a:ext cx="411480" cy="411480"/>
          </a:xfrm>
          <a:prstGeom prst="ellipse">
            <a:avLst/>
          </a:prstGeom>
          <a:solidFill>
            <a:srgbClr val="4A66AC"/>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300"/>
              </a:spcAft>
            </a:pPr>
            <a:r>
              <a:rPr sz="1300" b="1" i="0">
                <a:solidFill>
                  <a:srgbClr val="FFFFFF"/>
                </a:solidFill>
              </a:rPr>
              <a:t>1</a:t>
            </a:r>
          </a:p>
        </p:txBody>
      </p:sp>
      <p:sp>
        <p:nvSpPr>
          <p:cNvPr id="6" name="TextBox 5"/>
          <p:cNvSpPr txBox="1"/>
          <p:nvPr/>
        </p:nvSpPr>
        <p:spPr>
          <a:xfrm>
            <a:off x="1252728" y="2761488"/>
            <a:ext cx="2651760" cy="411480"/>
          </a:xfrm>
          <a:prstGeom prst="rect">
            <a:avLst/>
          </a:prstGeom>
          <a:noFill/>
        </p:spPr>
        <p:txBody>
          <a:bodyPr wrap="square" lIns="45720" rIns="45720" anchor="ctr">
            <a:spAutoFit/>
          </a:bodyPr>
          <a:lstStyle/>
          <a:p>
            <a:pPr algn="l">
              <a:spcAft>
                <a:spcPts val="400"/>
              </a:spcAft>
            </a:pPr>
            <a:r>
              <a:rPr sz="1400" b="1" i="0">
                <a:solidFill>
                  <a:srgbClr val="242852"/>
                </a:solidFill>
              </a:rPr>
              <a:t>Cargar datos</a:t>
            </a:r>
          </a:p>
        </p:txBody>
      </p:sp>
      <p:sp>
        <p:nvSpPr>
          <p:cNvPr id="7" name="TextBox 6"/>
          <p:cNvSpPr txBox="1"/>
          <p:nvPr/>
        </p:nvSpPr>
        <p:spPr>
          <a:xfrm>
            <a:off x="731520" y="3182112"/>
            <a:ext cx="3154680" cy="457200"/>
          </a:xfrm>
          <a:prstGeom prst="rect">
            <a:avLst/>
          </a:prstGeom>
          <a:noFill/>
        </p:spPr>
        <p:txBody>
          <a:bodyPr wrap="square" lIns="45720" rIns="45720" anchor="t">
            <a:spAutoFit/>
          </a:bodyPr>
          <a:lstStyle/>
          <a:p>
            <a:pPr algn="l">
              <a:spcAft>
                <a:spcPts val="400"/>
              </a:spcAft>
            </a:pPr>
            <a:r>
              <a:rPr sz="1200" b="0" i="0" dirty="0">
                <a:solidFill>
                  <a:srgbClr val="404040"/>
                </a:solidFill>
              </a:rPr>
              <a:t>Leer el historial en Excel sin transcribirlo a mano.</a:t>
            </a:r>
          </a:p>
        </p:txBody>
      </p:sp>
      <p:sp>
        <p:nvSpPr>
          <p:cNvPr id="8" name="Rounded Rectangle 7"/>
          <p:cNvSpPr/>
          <p:nvPr/>
        </p:nvSpPr>
        <p:spPr>
          <a:xfrm>
            <a:off x="4206240" y="2651760"/>
            <a:ext cx="3383280" cy="100584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43400" y="2788920"/>
            <a:ext cx="411480" cy="411480"/>
          </a:xfrm>
          <a:prstGeom prst="ellipse">
            <a:avLst/>
          </a:prstGeom>
          <a:solidFill>
            <a:srgbClr val="4A66AC"/>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300"/>
              </a:spcAft>
            </a:pPr>
            <a:r>
              <a:rPr sz="1300" b="1" i="0">
                <a:solidFill>
                  <a:srgbClr val="FFFFFF"/>
                </a:solidFill>
              </a:rPr>
              <a:t>2</a:t>
            </a:r>
          </a:p>
        </p:txBody>
      </p:sp>
      <p:sp>
        <p:nvSpPr>
          <p:cNvPr id="10" name="TextBox 9"/>
          <p:cNvSpPr txBox="1"/>
          <p:nvPr/>
        </p:nvSpPr>
        <p:spPr>
          <a:xfrm>
            <a:off x="4864608" y="2761488"/>
            <a:ext cx="2651760" cy="411480"/>
          </a:xfrm>
          <a:prstGeom prst="rect">
            <a:avLst/>
          </a:prstGeom>
          <a:noFill/>
        </p:spPr>
        <p:txBody>
          <a:bodyPr wrap="square" lIns="45720" rIns="45720" anchor="ctr">
            <a:spAutoFit/>
          </a:bodyPr>
          <a:lstStyle/>
          <a:p>
            <a:pPr algn="l">
              <a:spcAft>
                <a:spcPts val="400"/>
              </a:spcAft>
            </a:pPr>
            <a:r>
              <a:rPr sz="1400" b="1" i="0">
                <a:solidFill>
                  <a:srgbClr val="242852"/>
                </a:solidFill>
              </a:rPr>
              <a:t>Historial completo</a:t>
            </a:r>
          </a:p>
        </p:txBody>
      </p:sp>
      <p:sp>
        <p:nvSpPr>
          <p:cNvPr id="11" name="TextBox 10"/>
          <p:cNvSpPr txBox="1"/>
          <p:nvPr/>
        </p:nvSpPr>
        <p:spPr>
          <a:xfrm>
            <a:off x="4343400" y="3182112"/>
            <a:ext cx="3154680" cy="457200"/>
          </a:xfrm>
          <a:prstGeom prst="rect">
            <a:avLst/>
          </a:prstGeom>
          <a:noFill/>
        </p:spPr>
        <p:txBody>
          <a:bodyPr wrap="square" lIns="45720" rIns="45720" anchor="t">
            <a:spAutoFit/>
          </a:bodyPr>
          <a:lstStyle/>
          <a:p>
            <a:pPr algn="l">
              <a:spcAft>
                <a:spcPts val="400"/>
              </a:spcAft>
            </a:pPr>
            <a:r>
              <a:rPr sz="1200" b="0" i="0">
                <a:solidFill>
                  <a:srgbClr val="404040"/>
                </a:solidFill>
              </a:rPr>
              <a:t>Guardar cada inspección nueva junto con las anteriores.</a:t>
            </a:r>
          </a:p>
        </p:txBody>
      </p:sp>
      <p:sp>
        <p:nvSpPr>
          <p:cNvPr id="12" name="Rounded Rectangle 11"/>
          <p:cNvSpPr/>
          <p:nvPr/>
        </p:nvSpPr>
        <p:spPr>
          <a:xfrm>
            <a:off x="7818120" y="2651760"/>
            <a:ext cx="3383280" cy="100584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955280" y="2788920"/>
            <a:ext cx="411480" cy="411480"/>
          </a:xfrm>
          <a:prstGeom prst="ellipse">
            <a:avLst/>
          </a:prstGeom>
          <a:solidFill>
            <a:srgbClr val="4A66AC"/>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300"/>
              </a:spcAft>
            </a:pPr>
            <a:r>
              <a:rPr sz="1300" b="1" i="0">
                <a:solidFill>
                  <a:srgbClr val="FFFFFF"/>
                </a:solidFill>
              </a:rPr>
              <a:t>3</a:t>
            </a:r>
          </a:p>
        </p:txBody>
      </p:sp>
      <p:sp>
        <p:nvSpPr>
          <p:cNvPr id="14" name="TextBox 13"/>
          <p:cNvSpPr txBox="1"/>
          <p:nvPr/>
        </p:nvSpPr>
        <p:spPr>
          <a:xfrm>
            <a:off x="8476488" y="2761488"/>
            <a:ext cx="2651760" cy="411480"/>
          </a:xfrm>
          <a:prstGeom prst="rect">
            <a:avLst/>
          </a:prstGeom>
          <a:noFill/>
        </p:spPr>
        <p:txBody>
          <a:bodyPr wrap="square" lIns="45720" rIns="45720" anchor="ctr">
            <a:spAutoFit/>
          </a:bodyPr>
          <a:lstStyle/>
          <a:p>
            <a:pPr algn="l">
              <a:spcAft>
                <a:spcPts val="400"/>
              </a:spcAft>
            </a:pPr>
            <a:r>
              <a:rPr sz="1400" b="1" i="0">
                <a:solidFill>
                  <a:srgbClr val="242852"/>
                </a:solidFill>
              </a:rPr>
              <a:t>Tendencia por punto</a:t>
            </a:r>
          </a:p>
        </p:txBody>
      </p:sp>
      <p:sp>
        <p:nvSpPr>
          <p:cNvPr id="15" name="TextBox 14"/>
          <p:cNvSpPr txBox="1"/>
          <p:nvPr/>
        </p:nvSpPr>
        <p:spPr>
          <a:xfrm>
            <a:off x="7955280" y="3182112"/>
            <a:ext cx="3154680" cy="457200"/>
          </a:xfrm>
          <a:prstGeom prst="rect">
            <a:avLst/>
          </a:prstGeom>
          <a:noFill/>
        </p:spPr>
        <p:txBody>
          <a:bodyPr wrap="square" lIns="45720" rIns="45720" anchor="t">
            <a:spAutoFit/>
          </a:bodyPr>
          <a:lstStyle/>
          <a:p>
            <a:pPr algn="l">
              <a:spcAft>
                <a:spcPts val="400"/>
              </a:spcAft>
            </a:pPr>
            <a:r>
              <a:rPr sz="1200" b="0" i="0">
                <a:solidFill>
                  <a:srgbClr val="404040"/>
                </a:solidFill>
              </a:rPr>
              <a:t>Evolución de cada grieta contra fecha y horas, con Caution y Danger.</a:t>
            </a:r>
          </a:p>
        </p:txBody>
      </p:sp>
      <p:sp>
        <p:nvSpPr>
          <p:cNvPr id="16" name="Rounded Rectangle 15"/>
          <p:cNvSpPr/>
          <p:nvPr/>
        </p:nvSpPr>
        <p:spPr>
          <a:xfrm>
            <a:off x="594360" y="3794760"/>
            <a:ext cx="3383280" cy="100584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31920"/>
            <a:ext cx="411480" cy="411480"/>
          </a:xfrm>
          <a:prstGeom prst="ellipse">
            <a:avLst/>
          </a:prstGeom>
          <a:solidFill>
            <a:srgbClr val="4A66AC"/>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300"/>
              </a:spcAft>
            </a:pPr>
            <a:r>
              <a:rPr sz="1300" b="1" i="0">
                <a:solidFill>
                  <a:srgbClr val="FFFFFF"/>
                </a:solidFill>
              </a:rPr>
              <a:t>4</a:t>
            </a:r>
          </a:p>
        </p:txBody>
      </p:sp>
      <p:sp>
        <p:nvSpPr>
          <p:cNvPr id="18" name="TextBox 17"/>
          <p:cNvSpPr txBox="1"/>
          <p:nvPr/>
        </p:nvSpPr>
        <p:spPr>
          <a:xfrm>
            <a:off x="1252728" y="3904488"/>
            <a:ext cx="2651760" cy="411480"/>
          </a:xfrm>
          <a:prstGeom prst="rect">
            <a:avLst/>
          </a:prstGeom>
          <a:noFill/>
        </p:spPr>
        <p:txBody>
          <a:bodyPr wrap="square" lIns="45720" rIns="45720" anchor="ctr">
            <a:spAutoFit/>
          </a:bodyPr>
          <a:lstStyle/>
          <a:p>
            <a:pPr algn="l">
              <a:spcAft>
                <a:spcPts val="400"/>
              </a:spcAft>
            </a:pPr>
            <a:r>
              <a:rPr sz="1400" b="1" i="0">
                <a:solidFill>
                  <a:srgbClr val="242852"/>
                </a:solidFill>
              </a:rPr>
              <a:t>Imágenes</a:t>
            </a:r>
          </a:p>
        </p:txBody>
      </p:sp>
      <p:sp>
        <p:nvSpPr>
          <p:cNvPr id="19" name="TextBox 18"/>
          <p:cNvSpPr txBox="1"/>
          <p:nvPr/>
        </p:nvSpPr>
        <p:spPr>
          <a:xfrm>
            <a:off x="731520" y="4325112"/>
            <a:ext cx="3154680" cy="457200"/>
          </a:xfrm>
          <a:prstGeom prst="rect">
            <a:avLst/>
          </a:prstGeom>
          <a:noFill/>
        </p:spPr>
        <p:txBody>
          <a:bodyPr wrap="square" lIns="45720" rIns="45720" anchor="t">
            <a:spAutoFit/>
          </a:bodyPr>
          <a:lstStyle/>
          <a:p>
            <a:pPr algn="l">
              <a:spcAft>
                <a:spcPts val="400"/>
              </a:spcAft>
            </a:pPr>
            <a:r>
              <a:rPr sz="1200" b="0" i="0">
                <a:solidFill>
                  <a:srgbClr val="404040"/>
                </a:solidFill>
              </a:rPr>
              <a:t>Esquema de la zona y fotos asociadas a cada punto.</a:t>
            </a:r>
          </a:p>
        </p:txBody>
      </p:sp>
      <p:sp>
        <p:nvSpPr>
          <p:cNvPr id="20" name="Rounded Rectangle 19"/>
          <p:cNvSpPr/>
          <p:nvPr/>
        </p:nvSpPr>
        <p:spPr>
          <a:xfrm>
            <a:off x="4206240" y="3794760"/>
            <a:ext cx="3383280" cy="100584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343400" y="3931920"/>
            <a:ext cx="411480" cy="411480"/>
          </a:xfrm>
          <a:prstGeom prst="ellipse">
            <a:avLst/>
          </a:prstGeom>
          <a:solidFill>
            <a:srgbClr val="4A66AC"/>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300"/>
              </a:spcAft>
            </a:pPr>
            <a:r>
              <a:rPr sz="1300" b="1" i="0">
                <a:solidFill>
                  <a:srgbClr val="FFFFFF"/>
                </a:solidFill>
              </a:rPr>
              <a:t>5</a:t>
            </a:r>
          </a:p>
        </p:txBody>
      </p:sp>
      <p:sp>
        <p:nvSpPr>
          <p:cNvPr id="22" name="TextBox 21"/>
          <p:cNvSpPr txBox="1"/>
          <p:nvPr/>
        </p:nvSpPr>
        <p:spPr>
          <a:xfrm>
            <a:off x="4864608" y="3904488"/>
            <a:ext cx="2651760" cy="411480"/>
          </a:xfrm>
          <a:prstGeom prst="rect">
            <a:avLst/>
          </a:prstGeom>
          <a:noFill/>
        </p:spPr>
        <p:txBody>
          <a:bodyPr wrap="square" lIns="45720" rIns="45720" anchor="ctr">
            <a:spAutoFit/>
          </a:bodyPr>
          <a:lstStyle/>
          <a:p>
            <a:pPr algn="l">
              <a:spcAft>
                <a:spcPts val="400"/>
              </a:spcAft>
            </a:pPr>
            <a:r>
              <a:rPr sz="1400" b="1" i="0">
                <a:solidFill>
                  <a:srgbClr val="242852"/>
                </a:solidFill>
              </a:rPr>
              <a:t>Alertas</a:t>
            </a:r>
          </a:p>
        </p:txBody>
      </p:sp>
      <p:sp>
        <p:nvSpPr>
          <p:cNvPr id="23" name="TextBox 22"/>
          <p:cNvSpPr txBox="1"/>
          <p:nvPr/>
        </p:nvSpPr>
        <p:spPr>
          <a:xfrm>
            <a:off x="4343400" y="4325112"/>
            <a:ext cx="3154680" cy="457200"/>
          </a:xfrm>
          <a:prstGeom prst="rect">
            <a:avLst/>
          </a:prstGeom>
          <a:noFill/>
        </p:spPr>
        <p:txBody>
          <a:bodyPr wrap="square" lIns="45720" rIns="45720" anchor="t">
            <a:spAutoFit/>
          </a:bodyPr>
          <a:lstStyle/>
          <a:p>
            <a:pPr algn="l">
              <a:spcAft>
                <a:spcPts val="400"/>
              </a:spcAft>
            </a:pPr>
            <a:r>
              <a:rPr sz="1200" b="0" i="0">
                <a:solidFill>
                  <a:srgbClr val="404040"/>
                </a:solidFill>
              </a:rPr>
              <a:t>Avisar si un punto se acerca o pasa su límite, o crece muy rápido.</a:t>
            </a:r>
          </a:p>
        </p:txBody>
      </p:sp>
      <p:sp>
        <p:nvSpPr>
          <p:cNvPr id="24" name="Rounded Rectangle 23"/>
          <p:cNvSpPr/>
          <p:nvPr/>
        </p:nvSpPr>
        <p:spPr>
          <a:xfrm>
            <a:off x="7818120" y="3794760"/>
            <a:ext cx="3383280" cy="1005840"/>
          </a:xfrm>
          <a:prstGeom prst="roundRect">
            <a:avLst>
              <a:gd name="adj" fmla="val 8000"/>
            </a:avLst>
          </a:prstGeom>
          <a:solidFill>
            <a:srgbClr val="EAF1FB"/>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955280" y="3931920"/>
            <a:ext cx="411480" cy="411480"/>
          </a:xfrm>
          <a:prstGeom prst="ellipse">
            <a:avLst/>
          </a:prstGeom>
          <a:solidFill>
            <a:srgbClr val="4A66AC"/>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300"/>
              </a:spcAft>
            </a:pPr>
            <a:r>
              <a:rPr sz="1300" b="1" i="0">
                <a:solidFill>
                  <a:srgbClr val="FFFFFF"/>
                </a:solidFill>
              </a:rPr>
              <a:t>6</a:t>
            </a:r>
          </a:p>
        </p:txBody>
      </p:sp>
      <p:sp>
        <p:nvSpPr>
          <p:cNvPr id="26" name="TextBox 25"/>
          <p:cNvSpPr txBox="1"/>
          <p:nvPr/>
        </p:nvSpPr>
        <p:spPr>
          <a:xfrm>
            <a:off x="8476488" y="3904488"/>
            <a:ext cx="2651760" cy="411480"/>
          </a:xfrm>
          <a:prstGeom prst="rect">
            <a:avLst/>
          </a:prstGeom>
          <a:noFill/>
        </p:spPr>
        <p:txBody>
          <a:bodyPr wrap="square" lIns="45720" rIns="45720" anchor="ctr">
            <a:spAutoFit/>
          </a:bodyPr>
          <a:lstStyle/>
          <a:p>
            <a:pPr algn="l">
              <a:spcAft>
                <a:spcPts val="400"/>
              </a:spcAft>
            </a:pPr>
            <a:r>
              <a:rPr sz="1400" b="1" i="0">
                <a:solidFill>
                  <a:srgbClr val="242852"/>
                </a:solidFill>
              </a:rPr>
              <a:t>Registrar y consultar</a:t>
            </a:r>
          </a:p>
        </p:txBody>
      </p:sp>
      <p:sp>
        <p:nvSpPr>
          <p:cNvPr id="27" name="TextBox 26"/>
          <p:cNvSpPr txBox="1"/>
          <p:nvPr/>
        </p:nvSpPr>
        <p:spPr>
          <a:xfrm>
            <a:off x="7955280" y="4325112"/>
            <a:ext cx="3154680" cy="457200"/>
          </a:xfrm>
          <a:prstGeom prst="rect">
            <a:avLst/>
          </a:prstGeom>
          <a:noFill/>
        </p:spPr>
        <p:txBody>
          <a:bodyPr wrap="square" lIns="45720" rIns="45720" anchor="t">
            <a:spAutoFit/>
          </a:bodyPr>
          <a:lstStyle/>
          <a:p>
            <a:pPr algn="l">
              <a:spcAft>
                <a:spcPts val="400"/>
              </a:spcAft>
            </a:pPr>
            <a:r>
              <a:rPr sz="1200" b="0" i="0">
                <a:solidFill>
                  <a:srgbClr val="404040"/>
                </a:solidFill>
              </a:rPr>
              <a:t>Nuevas inspecciones con su estado; filtros por zona, punto y fecha.</a:t>
            </a:r>
          </a:p>
        </p:txBody>
      </p:sp>
      <p:sp>
        <p:nvSpPr>
          <p:cNvPr id="28" name="Rounded Rectangle 27"/>
          <p:cNvSpPr/>
          <p:nvPr/>
        </p:nvSpPr>
        <p:spPr>
          <a:xfrm>
            <a:off x="698490" y="5193792"/>
            <a:ext cx="6035040" cy="887901"/>
          </a:xfrm>
          <a:prstGeom prst="roundRect">
            <a:avLst>
              <a:gd name="adj" fmla="val 8000"/>
            </a:avLst>
          </a:prstGeom>
          <a:solidFill>
            <a:srgbClr val="FFFFFF"/>
          </a:solidFill>
          <a:ln w="15875">
            <a:solidFill>
              <a:srgbClr val="4A66AC"/>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l">
              <a:spcAft>
                <a:spcPts val="300"/>
              </a:spcAft>
            </a:pPr>
            <a:r>
              <a:rPr sz="1200" b="1" i="0">
                <a:solidFill>
                  <a:srgbClr val="242852"/>
                </a:solidFill>
              </a:rPr>
              <a:t>Aquí se diferencian: </a:t>
            </a:r>
            <a:r>
              <a:rPr sz="1200" b="0" i="0">
                <a:solidFill>
                  <a:srgbClr val="404040"/>
                </a:solidFill>
              </a:rPr>
              <a:t>modelo 3D con los puntos coloreados por estado, proyección de la progresión de cada grieta, reportes automáticos y todo lo que se les ocurra. Sorpréndannos.</a:t>
            </a:r>
          </a:p>
        </p:txBody>
      </p:sp>
      <p:sp>
        <p:nvSpPr>
          <p:cNvPr id="29" name="Rounded Rectangle 28"/>
          <p:cNvSpPr/>
          <p:nvPr/>
        </p:nvSpPr>
        <p:spPr>
          <a:xfrm>
            <a:off x="6858000" y="4892039"/>
            <a:ext cx="4572000" cy="1555413"/>
          </a:xfrm>
          <a:prstGeom prst="roundRect">
            <a:avLst>
              <a:gd name="adj" fmla="val 5000"/>
            </a:avLst>
          </a:prstGeom>
          <a:solidFill>
            <a:srgbClr val="C9E2E6"/>
          </a:solidFill>
          <a:ln w="15875">
            <a:solidFill>
              <a:srgbClr val="5AA2AE"/>
            </a:solidFill>
            <a:prstDash val="dash"/>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300"/>
              </a:spcAft>
            </a:pPr>
            <a:r>
              <a:rPr sz="1300" b="1" i="0" dirty="0">
                <a:solidFill>
                  <a:srgbClr val="242852"/>
                </a:solidFill>
              </a:rPr>
              <a:t>USO DE IA OBLIGATORIO</a:t>
            </a:r>
          </a:p>
          <a:p>
            <a:pPr algn="ctr">
              <a:spcAft>
                <a:spcPts val="300"/>
              </a:spcAft>
            </a:pPr>
            <a:r>
              <a:rPr lang="es-CO" sz="1400" dirty="0">
                <a:solidFill>
                  <a:schemeClr val="bg1"/>
                </a:solidFill>
              </a:rPr>
              <a:t>No es opcional: </a:t>
            </a:r>
            <a:r>
              <a:rPr lang="es-CO" sz="1400" b="1" dirty="0">
                <a:solidFill>
                  <a:schemeClr val="bg1"/>
                </a:solidFill>
              </a:rPr>
              <a:t>exprímanla al máximo</a:t>
            </a:r>
            <a:r>
              <a:rPr lang="es-CO" sz="1400" dirty="0">
                <a:solidFill>
                  <a:schemeClr val="bg1"/>
                </a:solidFill>
              </a:rPr>
              <a:t>. Trabajen de manera colaborativa con la IA para obtener un panorama claro de la </a:t>
            </a:r>
            <a:r>
              <a:rPr lang="es-CO" sz="1400" b="1" dirty="0">
                <a:solidFill>
                  <a:schemeClr val="bg1"/>
                </a:solidFill>
              </a:rPr>
              <a:t>salud estructural de la flota</a:t>
            </a:r>
            <a:r>
              <a:rPr lang="es-CO" sz="1400" dirty="0">
                <a:solidFill>
                  <a:schemeClr val="bg1"/>
                </a:solidFill>
              </a:rPr>
              <a:t>, identificar oportunidades y riesgos, y convertir esta información en </a:t>
            </a:r>
            <a:r>
              <a:rPr lang="es-CO" sz="1400" b="1" dirty="0">
                <a:solidFill>
                  <a:schemeClr val="bg1"/>
                </a:solidFill>
              </a:rPr>
              <a:t>insumos que faciliten y fortalezcan la toma de decisiones</a:t>
            </a:r>
            <a:r>
              <a:rPr lang="es-CO" sz="1400" dirty="0">
                <a:solidFill>
                  <a:schemeClr val="bg1"/>
                </a:solidFill>
              </a:rPr>
              <a:t>.</a:t>
            </a:r>
            <a:endParaRPr sz="1300" b="0" i="0" dirty="0">
              <a:solidFill>
                <a:schemeClr val="bg1"/>
              </a:solidFill>
            </a:endParaRPr>
          </a:p>
        </p:txBody>
      </p:sp>
    </p:spTree>
  </p:cSld>
  <p:clrMapOvr>
    <a:masterClrMapping/>
  </p:clrMapOvr>
</p:sld>
</file>

<file path=ppt/theme/theme1.xml><?xml version="1.0" encoding="utf-8"?>
<a:theme xmlns:a="http://schemas.openxmlformats.org/drawingml/2006/main" name="Personalizar">
  <a:themeElements>
    <a:clrScheme name="Personalizado 6">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1E5F9F"/>
      </a:accent6>
      <a:hlink>
        <a:srgbClr val="9454C3"/>
      </a:hlink>
      <a:folHlink>
        <a:srgbClr val="3EBBF0"/>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7_TF78853419_Win32" id="{89881BBC-4720-4DBD-B653-230ED84EDDDD}" vid="{D5D0700E-9D65-401B-B37B-B3D39C01EE2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ba9405d-e3c6-405c-b6a6-db2f9fabb10b" xsi:nil="true"/>
    <lcf76f155ced4ddcb4097134ff3c332f xmlns="7b9a32d8-9711-4519-ade5-2fbc377b7eec">
      <Terms xmlns="http://schemas.microsoft.com/office/infopath/2007/PartnerControls"/>
    </lcf76f155ced4ddcb4097134ff3c332f>
    <ReferenceId xmlns="7b9a32d8-9711-4519-ade5-2fbc377b7ee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EAEF404C558ED24D8702C2A831D5627A" ma:contentTypeVersion="10" ma:contentTypeDescription="Crear nuevo documento." ma:contentTypeScope="" ma:versionID="09e6e06808d47e7b496993a037bed9f1">
  <xsd:schema xmlns:xsd="http://www.w3.org/2001/XMLSchema" xmlns:xs="http://www.w3.org/2001/XMLSchema" xmlns:p="http://schemas.microsoft.com/office/2006/metadata/properties" xmlns:ns2="7b9a32d8-9711-4519-ade5-2fbc377b7eec" xmlns:ns3="8ba9405d-e3c6-405c-b6a6-db2f9fabb10b" targetNamespace="http://schemas.microsoft.com/office/2006/metadata/properties" ma:root="true" ma:fieldsID="7fd89c87f1a46d3af3f3853bd642f922" ns2:_="" ns3:_="">
    <xsd:import namespace="7b9a32d8-9711-4519-ade5-2fbc377b7eec"/>
    <xsd:import namespace="8ba9405d-e3c6-405c-b6a6-db2f9fabb10b"/>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9a32d8-9711-4519-ade5-2fbc377b7eec"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n" ma:readOnly="false" ma:fieldId="{5cf76f15-5ced-4ddc-b409-7134ff3c332f}" ma:taxonomyMulti="true" ma:sspId="33c0cd0c-c90a-4e91-8fc7-b7b215ba5ee3"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a9405d-e3c6-405c-b6a6-db2f9fabb10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f5a5bc9d-2f20-4832-8084-d00cd4cb2a12}" ma:internalName="TaxCatchAll" ma:showField="CatchAllData" ma:web="8ba9405d-e3c6-405c-b6a6-db2f9fabb1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C1C1FC6A-3AE0-49EB-ABDD-9921688760CD}"/>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{56D8F996-FB0B-4423-9CCB-AA0F042E13C7}TFd3b75063-ff25-434d-b12c-efeaf07d16c3e7f35a69_win32-0d75b5563924</Template>
  <TotalTime>1753</TotalTime>
  <Words>518</Words>
  <Application>Microsoft Office PowerPoint</Application>
  <PresentationFormat>Panorámica</PresentationFormat>
  <Paragraphs>64</Paragraphs>
  <Slides>4</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vt:i4>
      </vt:variant>
    </vt:vector>
  </HeadingPairs>
  <TitlesOfParts>
    <vt:vector size="9" baseType="lpstr">
      <vt:lpstr>Arial</vt:lpstr>
      <vt:lpstr>Calibri</vt:lpstr>
      <vt:lpstr>Franklin Gothic Book</vt:lpstr>
      <vt:lpstr>Franklin Gothic Demi</vt:lpstr>
      <vt:lpstr>Personalizar</vt:lpstr>
      <vt:lpstr>GESTIÓN DEL MANTENIMIENTO</vt:lpstr>
      <vt:lpstr>El reto</vt:lpstr>
      <vt:lpstr>El reto</vt:lpstr>
      <vt:lpstr>La plataforma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Jurado</dc:creator>
  <cp:lastModifiedBy>adriana carolina reales sarmiento</cp:lastModifiedBy>
  <cp:revision>20</cp:revision>
  <dcterms:created xsi:type="dcterms:W3CDTF">2026-07-24T16:30:34Z</dcterms:created>
  <dcterms:modified xsi:type="dcterms:W3CDTF">2026-09-26T18:27:43Z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0x010100EAEF404C558ED24D8702C2A831D5627A</vt:lpwstr>
  </property>
</Properties>
</file>